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F0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4" cy="73152"/>
          </a:xfrm>
          <a:prstGeom prst="rect">
            <a:avLst/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4" cy="73152"/>
          </a:xfrm>
          <a:prstGeom prst="rect">
            <a:avLst/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4" cy="73152"/>
          </a:xfrm>
          <a:prstGeom prst="rect">
            <a:avLst/>
          </a:prstGeom>
          <a:solidFill>
            <a:srgbClr val="EC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4" cy="73152"/>
          </a:xfrm>
          <a:prstGeom prst="rect">
            <a:avLst/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BBABC"/>
                </a:solidFill>
                <a:latin typeface="Lato"/>
              </a:rPr>
              <a:t>SLACK AGENT BUILDER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1">
                <a:solidFill>
                  <a:srgbClr val="FFFFFF"/>
                </a:solidFill>
                <a:latin typeface="Lato"/>
              </a:rPr>
              <a:t>Veritype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DDDDDD"/>
                </a:solidFill>
                <a:latin typeface="Lato"/>
              </a:rPr>
              <a:t>A Slack-native fact-checker that renders chart-rich verdict cards.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C5F0"/>
                </a:solidFill>
                <a:latin typeface="Lato"/>
              </a:rPr>
              <a:t>Track 1 : New Slack Agent  ·  TypeScript Coded Agent  ·  MCP + Real-Time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BBABC"/>
                </a:solidFill>
                <a:latin typeface="Lato"/>
              </a:rPr>
              <a:t>Tim Dries  ·  Biztory  ·  May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5215" y="59436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36C5F0"/>
                </a:solidFill>
                <a:latin typeface="Lato"/>
              </a:rPr>
              <a:t>github.com/timdries/veritype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4" cy="73152"/>
          </a:xfrm>
          <a:prstGeom prst="rect">
            <a:avLst/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4" cy="73152"/>
          </a:xfrm>
          <a:prstGeom prst="rect">
            <a:avLst/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4" cy="73152"/>
          </a:xfrm>
          <a:prstGeom prst="rect">
            <a:avLst/>
          </a:prstGeom>
          <a:solidFill>
            <a:srgbClr val="EC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4" cy="73152"/>
          </a:xfrm>
          <a:prstGeom prst="rect">
            <a:avLst/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6400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3F0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Lato"/>
              </a:rPr>
              <a:t>01 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D1C1D"/>
                </a:solidFill>
                <a:latin typeface="Lato"/>
              </a:rPr>
              <a:t>Misinformation moves faster</a:t>
            </a:r>
          </a:p>
          <a:p>
            <a:pPr algn="l"/>
            <a:r>
              <a:rPr sz="4200" b="1">
                <a:solidFill>
                  <a:srgbClr val="1D1C1D"/>
                </a:solidFill>
                <a:latin typeface="Lato"/>
              </a:rPr>
              <a:t>than the team can Google.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54245"/>
                </a:solidFill>
                <a:latin typeface="Lato"/>
              </a:rPr>
              <a:t>Stats and half-truths land in channel, get three emoji reacts, and become 'fact' by lunch.</a:t>
            </a:r>
          </a:p>
          <a:p>
            <a:pPr algn="l"/>
            <a:r>
              <a:rPr sz="1800" b="0">
                <a:solidFill>
                  <a:srgbClr val="454245"/>
                </a:solidFill>
                <a:latin typeface="Lato"/>
              </a:rPr>
              <a:t>The person who pushes back has to do their homework alone, in a side tab, and disrupt the thread.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40480"/>
            <a:ext cx="10881360" cy="2194560"/>
          </a:xfrm>
          <a:prstGeom prst="rect">
            <a:avLst/>
          </a:prstGeom>
          <a:solidFill>
            <a:srgbClr val="F8F8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40480"/>
            <a:ext cx="73152" cy="2194560"/>
          </a:xfrm>
          <a:prstGeom prst="rect">
            <a:avLst/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16061"/>
                </a:solidFill>
                <a:latin typeface="Lato"/>
              </a:rPr>
              <a:t>How it goes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10149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1C1D"/>
                </a:solidFill>
                <a:latin typeface="Lato"/>
              </a:rPr>
              <a:t>·  Claim drops in #general at 09:47.</a:t>
            </a:r>
          </a:p>
          <a:p>
            <a:pPr algn="l"/>
            <a:r>
              <a:rPr sz="1700" b="0">
                <a:solidFill>
                  <a:srgbClr val="1D1C1D"/>
                </a:solidFill>
                <a:latin typeface="Lato"/>
              </a:rPr>
              <a:t>·  Three reactions, no challenge.</a:t>
            </a:r>
          </a:p>
          <a:p>
            <a:pPr algn="l"/>
            <a:r>
              <a:rPr sz="1700" b="0">
                <a:solidFill>
                  <a:srgbClr val="1D1C1D"/>
                </a:solidFill>
                <a:latin typeface="Lato"/>
              </a:rPr>
              <a:t>·  Someone tries to push back at 10:30, has to Google for ten minutes.</a:t>
            </a:r>
          </a:p>
          <a:p>
            <a:pPr algn="l"/>
            <a:r>
              <a:rPr sz="1700" b="0">
                <a:solidFill>
                  <a:srgbClr val="1D1C1D"/>
                </a:solidFill>
                <a:latin typeface="Lato"/>
              </a:rPr>
              <a:t>·  Source debate derails the channel for the rest of the morning.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16061"/>
                </a:solidFill>
                <a:latin typeface="Lato"/>
              </a:rPr>
              <a:t>Veritype : Slack Agent Builder Challenge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16061"/>
                </a:solidFill>
                <a:latin typeface="Lato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4" cy="73152"/>
          </a:xfrm>
          <a:prstGeom prst="rect">
            <a:avLst/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4" cy="73152"/>
          </a:xfrm>
          <a:prstGeom prst="rect">
            <a:avLst/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4" cy="73152"/>
          </a:xfrm>
          <a:prstGeom prst="rect">
            <a:avLst/>
          </a:prstGeom>
          <a:solidFill>
            <a:srgbClr val="EC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4" cy="73152"/>
          </a:xfrm>
          <a:prstGeom prst="rect">
            <a:avLst/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64008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3F0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Lato"/>
              </a:rPr>
              <a:t>02  WHAT WE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D1C1D"/>
                </a:solidFill>
                <a:latin typeface="Lato"/>
              </a:rPr>
              <a:t>Veritype offers a one-tap verification, in thread, in seconds.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35661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3566160" cy="109728"/>
          </a:xfrm>
          <a:prstGeom prst="rect">
            <a:avLst/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D1C1D"/>
                </a:solidFill>
                <a:latin typeface="Lato"/>
              </a:rPr>
              <a:t>Listen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31920"/>
            <a:ext cx="28346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54245"/>
                </a:solidFill>
                <a:latin typeface="Lato"/>
              </a:rPr>
              <a:t>A Haiku 4.5 classifier reads every channel message and decides what is a verifiable, public-interest claim.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4864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16061"/>
                </a:solidFill>
                <a:latin typeface="Lato"/>
              </a:rPr>
              <a:t>step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743200"/>
            <a:ext cx="35661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743200"/>
            <a:ext cx="3566160" cy="109728"/>
          </a:xfrm>
          <a:prstGeom prst="rect">
            <a:avLst/>
          </a:prstGeom>
          <a:solidFill>
            <a:srgbClr val="EC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320040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D1C1D"/>
                </a:solidFill>
                <a:latin typeface="Lato"/>
              </a:rP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931920"/>
            <a:ext cx="28346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54245"/>
                </a:solidFill>
                <a:latin typeface="Lato"/>
              </a:rPr>
              <a:t>Opus 4.7 with web_search fans out, reads primary sources, and produces a JSON verdict with confidence and citations.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4864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16061"/>
                </a:solidFill>
                <a:latin typeface="Lato"/>
              </a:rPr>
              <a:t>step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743200"/>
            <a:ext cx="35661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2743200"/>
            <a:ext cx="3566160" cy="109728"/>
          </a:xfrm>
          <a:prstGeom prst="rect">
            <a:avLst/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20040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D1C1D"/>
                </a:solidFill>
                <a:latin typeface="Lato"/>
              </a:rPr>
              <a:t>Render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931920"/>
            <a:ext cx="28346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54245"/>
                </a:solidFill>
                <a:latin typeface="Lato"/>
              </a:rPr>
              <a:t>We paint the verdict as a Datatype-font card. Plain text like {b:20,45,70} renders as a real bar chart.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4864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16061"/>
                </a:solidFill>
                <a:latin typeface="Lato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16061"/>
                </a:solidFill>
                <a:latin typeface="Lato"/>
              </a:rPr>
              <a:t>Veritype : Slack Agent Builder Challenge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16061"/>
                </a:solidFill>
                <a:latin typeface="Lato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4" cy="73152"/>
          </a:xfrm>
          <a:prstGeom prst="rect">
            <a:avLst/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4" cy="73152"/>
          </a:xfrm>
          <a:prstGeom prst="rect">
            <a:avLst/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4" cy="73152"/>
          </a:xfrm>
          <a:prstGeom prst="rect">
            <a:avLst/>
          </a:prstGeom>
          <a:solidFill>
            <a:srgbClr val="EC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4" cy="73152"/>
          </a:xfrm>
          <a:prstGeom prst="rect">
            <a:avLst/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6400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3F0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Lato"/>
              </a:rPr>
              <a:t>03  THE VERDICT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D1C1D"/>
                </a:solidFill>
                <a:latin typeface="Lato"/>
              </a:rPr>
              <a:t>Datatype turns plain text into inline charts.</a:t>
            </a:r>
          </a:p>
        </p:txBody>
      </p:sp>
      <p:pic>
        <p:nvPicPr>
          <p:cNvPr id="9" name="Picture 8" descr="sample-mostly_tr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0"/>
            <a:ext cx="3239302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2080" y="2651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D1C1D"/>
                </a:solidFill>
                <a:latin typeface="Lato"/>
              </a:rPr>
              <a:t>Reading the 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64A3"/>
                </a:solidFill>
                <a:latin typeface="Lato"/>
              </a:rPr>
              <a:t>MOSTLY TRUE pill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2004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54245"/>
                </a:solidFill>
                <a:latin typeface="Lato"/>
              </a:rPr>
              <a:t>verdict + confidence as {p:98} pie + percentage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7033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64A3"/>
                </a:solidFill>
                <a:latin typeface="Lato"/>
              </a:rPr>
              <a:t>Source weights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7033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54245"/>
                </a:solidFill>
                <a:latin typeface="Lato"/>
              </a:rPr>
              <a:t>{b:92,88,74,81,70}: primary docs sit taller than blogs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4206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64A3"/>
                </a:solidFill>
                <a:latin typeface="Lato"/>
              </a:rPr>
              <a:t>Evidence 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2062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54245"/>
                </a:solidFill>
                <a:latin typeface="Lato"/>
              </a:rPr>
              <a:t>three pies for supports / refutes /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709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64A3"/>
                </a:solidFill>
                <a:latin typeface="Lato"/>
              </a:rPr>
              <a:t>Salience sparkline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7091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54245"/>
                </a:solidFill>
                <a:latin typeface="Lato"/>
              </a:rPr>
              <a:t>{l:22,28,35,30,42,55,70,88}: how often the claim is showing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5212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64A3"/>
                </a:solidFill>
                <a:latin typeface="Lato"/>
              </a:rPr>
              <a:t>Citations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52120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54245"/>
                </a:solidFill>
                <a:latin typeface="Lato"/>
              </a:rPr>
              <a:t>every source has stance, weight, publisher, excerpt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16061"/>
                </a:solidFill>
                <a:latin typeface="Lato"/>
              </a:rPr>
              <a:t>Veritype : Slack Agent Builder Challenge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16061"/>
                </a:solidFill>
                <a:latin typeface="Lato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4" cy="73152"/>
          </a:xfrm>
          <a:prstGeom prst="rect">
            <a:avLst/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4" cy="73152"/>
          </a:xfrm>
          <a:prstGeom prst="rect">
            <a:avLst/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4" cy="73152"/>
          </a:xfrm>
          <a:prstGeom prst="rect">
            <a:avLst/>
          </a:prstGeom>
          <a:solidFill>
            <a:srgbClr val="EC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4" cy="73152"/>
          </a:xfrm>
          <a:prstGeom prst="rect">
            <a:avLst/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64008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3F0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Lato"/>
              </a:rPr>
              <a:t>04 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D1C1D"/>
                </a:solidFill>
                <a:latin typeface="Lato"/>
              </a:rPr>
              <a:t>One brain, three surfaces.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54245"/>
                </a:solidFill>
                <a:latin typeface="Lato"/>
              </a:rPr>
              <a:t>The Slack bot, the MCP server, and the CLI/dashboard all call the same core module.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73152" cy="1280160"/>
          </a:xfrm>
          <a:prstGeom prst="rect">
            <a:avLst/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632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D1C1D"/>
                </a:solidFill>
                <a:latin typeface="Lato"/>
              </a:rPr>
              <a:t>Slack Bolt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118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54245"/>
                </a:solidFill>
                <a:latin typeface="Lato"/>
              </a:rPr>
              <a:t>Socket Mode, /verify, message events, button handlers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83464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834640"/>
            <a:ext cx="73152" cy="1280160"/>
          </a:xfrm>
          <a:prstGeom prst="rect">
            <a:avLst/>
          </a:prstGeom>
          <a:solidFill>
            <a:srgbClr val="EC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30632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D1C1D"/>
                </a:solidFill>
                <a:latin typeface="Lato"/>
              </a:rPr>
              <a:t>MCP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6118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54245"/>
                </a:solidFill>
                <a:latin typeface="Lato"/>
              </a:rPr>
              <a:t>stdio transport, 3 tools, plug into any MCP client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83464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834640"/>
            <a:ext cx="73152" cy="1280160"/>
          </a:xfrm>
          <a:prstGeom prst="rect">
            <a:avLst/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30632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D1C1D"/>
                </a:solidFill>
                <a:latin typeface="Lato"/>
              </a:rPr>
              <a:t>CLI /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6118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54245"/>
                </a:solidFill>
                <a:latin typeface="Lato"/>
              </a:rPr>
              <a:t>render cards offline, demo + admin UI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4572000"/>
            <a:ext cx="8503920" cy="914400"/>
          </a:xfrm>
          <a:prstGeom prst="rect">
            <a:avLst/>
          </a:prstGeom>
          <a:solidFill>
            <a:srgbClr val="3F0E40"/>
          </a:solidFill>
          <a:ln w="12700">
            <a:solidFill>
              <a:srgbClr val="191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4572000"/>
            <a:ext cx="85039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Lato"/>
              </a:rPr>
              <a:t>src/core : screen → research → render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16061"/>
                </a:solidFill>
                <a:latin typeface="Lato"/>
              </a:rPr>
              <a:t>Haiku 4.5 (screener)  ·  Opus 4.7 + web_search (research)  ·  Puppeteer + Datatype font (PNG card)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16061"/>
                </a:solidFill>
                <a:latin typeface="Lato"/>
              </a:rPr>
              <a:t>Veritype : Slack Agent Builder Challenge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16061"/>
                </a:solidFill>
                <a:latin typeface="Lato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4" cy="73152"/>
          </a:xfrm>
          <a:prstGeom prst="rect">
            <a:avLst/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4" cy="73152"/>
          </a:xfrm>
          <a:prstGeom prst="rect">
            <a:avLst/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4" cy="73152"/>
          </a:xfrm>
          <a:prstGeom prst="rect">
            <a:avLst/>
          </a:prstGeom>
          <a:solidFill>
            <a:srgbClr val="EC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4" cy="73152"/>
          </a:xfrm>
          <a:prstGeom prst="rect">
            <a:avLst/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64008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3F0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Lato"/>
              </a:rPr>
              <a:t>05  IN-CHANNEL 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D1C1D"/>
                </a:solidFill>
                <a:latin typeface="Lato"/>
              </a:rPr>
              <a:t>It feels native because it is native.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54245"/>
                </a:solidFill>
                <a:latin typeface="Lato"/>
              </a:rPr>
              <a:t>Ephemeral offer, threaded verdict, Block Kit mrkdwn fallback for accessibility.</a:t>
            </a:r>
          </a:p>
        </p:txBody>
      </p:sp>
      <p:pic>
        <p:nvPicPr>
          <p:cNvPr id="10" name="Picture 9" descr="0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468880"/>
            <a:ext cx="6437376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16061"/>
                </a:solidFill>
                <a:latin typeface="Lato"/>
              </a:rPr>
              <a:t>Veritype : Slack Agent Builder Challenge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16061"/>
                </a:solidFill>
                <a:latin typeface="Lato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4" cy="73152"/>
          </a:xfrm>
          <a:prstGeom prst="rect">
            <a:avLst/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4" cy="73152"/>
          </a:xfrm>
          <a:prstGeom prst="rect">
            <a:avLst/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4" cy="73152"/>
          </a:xfrm>
          <a:prstGeom prst="rect">
            <a:avLst/>
          </a:prstGeom>
          <a:solidFill>
            <a:srgbClr val="EC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4" cy="73152"/>
          </a:xfrm>
          <a:prstGeom prst="rect">
            <a:avLst/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64008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3F0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Lato"/>
              </a:rPr>
              <a:t>06  WORKSPACE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D1C1D"/>
                </a:solidFill>
                <a:latin typeface="Lato"/>
              </a:rPr>
              <a:t>Admins get a Slack-style 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54245"/>
                </a:solidFill>
                <a:latin typeface="Lato"/>
              </a:rPr>
              <a:t>Live KPIs in Datatype charts. Verdict distribution, latency, channel coverage, library.</a:t>
            </a:r>
          </a:p>
        </p:txBody>
      </p:sp>
      <p:pic>
        <p:nvPicPr>
          <p:cNvPr id="10" name="Picture 9" descr="0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468880"/>
            <a:ext cx="6437376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16061"/>
                </a:solidFill>
                <a:latin typeface="Lato"/>
              </a:rPr>
              <a:t>Veritype : Slack Agent Builder Challenge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16061"/>
                </a:solidFill>
                <a:latin typeface="Lato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4" cy="73152"/>
          </a:xfrm>
          <a:prstGeom prst="rect">
            <a:avLst/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4" cy="73152"/>
          </a:xfrm>
          <a:prstGeom prst="rect">
            <a:avLst/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4" cy="73152"/>
          </a:xfrm>
          <a:prstGeom prst="rect">
            <a:avLst/>
          </a:prstGeom>
          <a:solidFill>
            <a:srgbClr val="EC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4" cy="73152"/>
          </a:xfrm>
          <a:prstGeom prst="rect">
            <a:avLst/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64008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3F0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Lato"/>
              </a:rPr>
              <a:t>07  WHY IT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D1C1D"/>
                </a:solidFill>
                <a:latin typeface="Lato"/>
              </a:rPr>
              <a:t>We score on every judging axis.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109728" cy="731520"/>
          </a:xfrm>
          <a:prstGeom prst="rect">
            <a:avLst/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D1C1D"/>
                </a:solidFill>
                <a:latin typeface="Lato"/>
              </a:rPr>
              <a:t>Tech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0312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54245"/>
                </a:solidFill>
                <a:latin typeface="Lato"/>
              </a:rPr>
              <a:t>Coded Agent in TypeScript. Haiku 4.5 + Opus 4.7 + web_search. MCP server reuse. Puppeteer pipeline.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71800"/>
            <a:ext cx="109728" cy="731520"/>
          </a:xfrm>
          <a:prstGeom prst="rect">
            <a:avLst/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D1C1D"/>
                </a:solidFill>
                <a:latin typeface="Lato"/>
              </a:rPr>
              <a:t>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7180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54245"/>
                </a:solidFill>
                <a:latin typeface="Lato"/>
              </a:rPr>
              <a:t>Fully Slack-skinned. Aubergine sidebar, workspace rail, Block Kit verdict, Datatype charts.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40480"/>
            <a:ext cx="109728" cy="731520"/>
          </a:xfrm>
          <a:prstGeom prst="rect">
            <a:avLst/>
          </a:prstGeom>
          <a:solidFill>
            <a:srgbClr val="EC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D1C1D"/>
                </a:solidFill>
                <a:latin typeface="Lato"/>
              </a:rPr>
              <a:t>Idea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84048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54245"/>
                </a:solidFill>
                <a:latin typeface="Lato"/>
              </a:rPr>
              <a:t>Nobody else is rendering charts via a font in Slack. The proactive ephemeral offer is novel UX.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709160"/>
            <a:ext cx="109728" cy="731520"/>
          </a:xfrm>
          <a:prstGeom prst="rect">
            <a:avLst/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D1C1D"/>
                </a:solidFill>
                <a:latin typeface="Lato"/>
              </a:rPr>
              <a:t>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70916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54245"/>
                </a:solidFill>
                <a:latin typeface="Lato"/>
              </a:rPr>
              <a:t>Misinformation friction inside Slack maps directly to trust at every team using 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577840"/>
            <a:ext cx="109728" cy="731520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77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D1C1D"/>
                </a:solidFill>
                <a:latin typeface="Lato"/>
              </a:rPr>
              <a:t>Required pillars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57784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54245"/>
                </a:solidFill>
                <a:latin typeface="Lato"/>
              </a:rPr>
              <a:t>Hits MCP + Real-Time Search. Two of three checked off, not just 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16061"/>
                </a:solidFill>
                <a:latin typeface="Lato"/>
              </a:rPr>
              <a:t>Veritype : Slack Agent Builder Challenge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16061"/>
                </a:solidFill>
                <a:latin typeface="Lato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F0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4" cy="73152"/>
          </a:xfrm>
          <a:prstGeom prst="rect">
            <a:avLst/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4" cy="73152"/>
          </a:xfrm>
          <a:prstGeom prst="rect">
            <a:avLst/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4" cy="73152"/>
          </a:xfrm>
          <a:prstGeom prst="rect">
            <a:avLst/>
          </a:prstGeom>
          <a:solidFill>
            <a:srgbClr val="EC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4" cy="73152"/>
          </a:xfrm>
          <a:prstGeom prst="rect">
            <a:avLst/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6C5F0"/>
                </a:solidFill>
                <a:latin typeface="Lato"/>
              </a:rPr>
              <a:t>THANK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Lato"/>
              </a:rPr>
              <a:t>Try Veritype yourself.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DDDDD"/>
                </a:solidFill>
                <a:latin typeface="Lato"/>
              </a:rPr>
              <a:t>Live workspace : acme-corp.slack.com  ·  Repo : github.com/timdries/veritype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DDDDD"/>
                </a:solidFill>
                <a:latin typeface="Lato"/>
              </a:rPr>
              <a:t>MCP config : drop into Claude Desktop and the same brain is yours.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C5F0"/>
                </a:solidFill>
                <a:latin typeface="Lato"/>
              </a:rPr>
              <a:t>Slack-native fact-checking, with charts that ride inside type.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16061"/>
                </a:solidFill>
                <a:latin typeface="Lato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